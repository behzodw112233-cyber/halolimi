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16863eec8742e2" /><Relationship Type="http://schemas.openxmlformats.org/officeDocument/2006/relationships/extended-properties" Target="/docProps/app.xml" Id="Rb78d9596dd494a6d" /><Relationship Type="http://schemas.openxmlformats.org/officeDocument/2006/relationships/officeDocument" Target="/ppt/presentation.xml" Id="Rf40275f6a21147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f0e1cdc4cc4b6f"/>
  </p:sldMasterIdLst>
  <p:notesMasterIdLst>
    <p:notesMasterId xmlns:r="http://schemas.openxmlformats.org/officeDocument/2006/relationships" r:id="Rfeca64173d954205"/>
  </p:notesMasterIdLst>
  <p:sldIdLst>
    <p:sldId xmlns:r="http://schemas.openxmlformats.org/officeDocument/2006/relationships" id="256" r:id="R5da7497960b941e4"/>
    <p:sldId xmlns:r="http://schemas.openxmlformats.org/officeDocument/2006/relationships" id="257" r:id="R0652dca78390456d"/>
    <p:sldId xmlns:r="http://schemas.openxmlformats.org/officeDocument/2006/relationships" id="258" r:id="R16bda88decde4737"/>
    <p:sldId xmlns:r="http://schemas.openxmlformats.org/officeDocument/2006/relationships" id="259" r:id="R5422887893874304"/>
    <p:sldId xmlns:r="http://schemas.openxmlformats.org/officeDocument/2006/relationships" id="260" r:id="R1db78dd57abc41a7"/>
    <p:sldId xmlns:r="http://schemas.openxmlformats.org/officeDocument/2006/relationships" id="261" r:id="Rf8952be6c4ed4d88"/>
    <p:sldId xmlns:r="http://schemas.openxmlformats.org/officeDocument/2006/relationships" id="262" r:id="R0eab5f6659af47a8"/>
    <p:sldId xmlns:r="http://schemas.openxmlformats.org/officeDocument/2006/relationships" id="263" r:id="R29d67edb5f5a41d2"/>
    <p:sldId xmlns:r="http://schemas.openxmlformats.org/officeDocument/2006/relationships" id="264" r:id="Rfbfef1b384a0451d"/>
    <p:sldId xmlns:r="http://schemas.openxmlformats.org/officeDocument/2006/relationships" id="265" r:id="R835e3335859e47e3"/>
    <p:sldId xmlns:r="http://schemas.openxmlformats.org/officeDocument/2006/relationships" id="266" r:id="R7bf96eca6f9f48c7"/>
    <p:sldId xmlns:r="http://schemas.openxmlformats.org/officeDocument/2006/relationships" id="267" r:id="Ra6122d8af57245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dba4e2068f4f52" /><Relationship Type="http://schemas.openxmlformats.org/officeDocument/2006/relationships/slideMaster" Target="/ppt/slideMasters/slideMaster1.xml" Id="R85f0e1cdc4cc4b6f" /><Relationship Type="http://schemas.openxmlformats.org/officeDocument/2006/relationships/notesMaster" Target="/ppt/notesMasters/notesMaster1.xml" Id="Rfeca64173d954205" /><Relationship Type="http://schemas.openxmlformats.org/officeDocument/2006/relationships/presProps" Target="/ppt/presProps.xml" Id="Rd5dd77eb02c94ffa" /><Relationship Type="http://schemas.openxmlformats.org/officeDocument/2006/relationships/tableStyles" Target="/ppt/tableStyles.xml" Id="R6f26b1035801468d" /><Relationship Type="http://schemas.openxmlformats.org/officeDocument/2006/relationships/slide" Target="/ppt/slides/slide1.xml" Id="R5da7497960b941e4" /><Relationship Type="http://schemas.openxmlformats.org/officeDocument/2006/relationships/slide" Target="/ppt/slides/slide2.xml" Id="R0652dca78390456d" /><Relationship Type="http://schemas.openxmlformats.org/officeDocument/2006/relationships/slide" Target="/ppt/slides/slide3.xml" Id="R16bda88decde4737" /><Relationship Type="http://schemas.openxmlformats.org/officeDocument/2006/relationships/slide" Target="/ppt/slides/slide4.xml" Id="R5422887893874304" /><Relationship Type="http://schemas.openxmlformats.org/officeDocument/2006/relationships/slide" Target="/ppt/slides/slide5.xml" Id="R1db78dd57abc41a7" /><Relationship Type="http://schemas.openxmlformats.org/officeDocument/2006/relationships/slide" Target="/ppt/slides/slide6.xml" Id="Rf8952be6c4ed4d88" /><Relationship Type="http://schemas.openxmlformats.org/officeDocument/2006/relationships/slide" Target="/ppt/slides/slide7.xml" Id="R0eab5f6659af47a8" /><Relationship Type="http://schemas.openxmlformats.org/officeDocument/2006/relationships/slide" Target="/ppt/slides/slide8.xml" Id="R29d67edb5f5a41d2" /><Relationship Type="http://schemas.openxmlformats.org/officeDocument/2006/relationships/slide" Target="/ppt/slides/slide9.xml" Id="Rfbfef1b384a0451d" /><Relationship Type="http://schemas.openxmlformats.org/officeDocument/2006/relationships/slide" Target="/ppt/slides/slide10.xml" Id="R835e3335859e47e3" /><Relationship Type="http://schemas.openxmlformats.org/officeDocument/2006/relationships/slide" Target="/ppt/slides/slide11.xml" Id="R7bf96eca6f9f48c7" /><Relationship Type="http://schemas.openxmlformats.org/officeDocument/2006/relationships/slide" Target="/ppt/slides/slide12.xml" Id="Ra6122d8af57245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51040b7b3249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24f50daa7c4c32" /><Relationship Type="http://schemas.openxmlformats.org/officeDocument/2006/relationships/notesMaster" Target="/ppt/notesMasters/notesMaster1.xml" Id="Rba0d20032ca94a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95b9343cbb45f9" /><Relationship Type="http://schemas.openxmlformats.org/officeDocument/2006/relationships/notesMaster" Target="/ppt/notesMasters/notesMaster1.xml" Id="R7342cf69591844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94c04c32be4c2b" /><Relationship Type="http://schemas.openxmlformats.org/officeDocument/2006/relationships/notesMaster" Target="/ppt/notesMasters/notesMaster1.xml" Id="R0335862495cd4a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d0d602f1794c8e" /><Relationship Type="http://schemas.openxmlformats.org/officeDocument/2006/relationships/notesMaster" Target="/ppt/notesMasters/notesMaster1.xml" Id="Re23a4328fbb243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4fb6af9d884302" /><Relationship Type="http://schemas.openxmlformats.org/officeDocument/2006/relationships/notesMaster" Target="/ppt/notesMasters/notesMaster1.xml" Id="Rbddeb31edeb34d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63f4a1837748b7" /><Relationship Type="http://schemas.openxmlformats.org/officeDocument/2006/relationships/notesMaster" Target="/ppt/notesMasters/notesMaster1.xml" Id="R840622e04b644a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f32e0b567f4046" /><Relationship Type="http://schemas.openxmlformats.org/officeDocument/2006/relationships/notesMaster" Target="/ppt/notesMasters/notesMaster1.xml" Id="R2e8aa4dec00e40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51d0446bf245a8" /><Relationship Type="http://schemas.openxmlformats.org/officeDocument/2006/relationships/notesMaster" Target="/ppt/notesMasters/notesMaster1.xml" Id="R50262d97a2fe4d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fd70907ee849ce" /><Relationship Type="http://schemas.openxmlformats.org/officeDocument/2006/relationships/notesMaster" Target="/ppt/notesMasters/notesMaster1.xml" Id="Re3d3547fc3af49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99fa39c7f743b1" /><Relationship Type="http://schemas.openxmlformats.org/officeDocument/2006/relationships/notesMaster" Target="/ppt/notesMasters/notesMaster1.xml" Id="Rccdf9b31a9c34f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e28a63643f4e10" /><Relationship Type="http://schemas.openxmlformats.org/officeDocument/2006/relationships/notesMaster" Target="/ppt/notesMasters/notesMaster1.xml" Id="R028f922adca740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ef3b2cf76b4575" /><Relationship Type="http://schemas.openxmlformats.org/officeDocument/2006/relationships/notesMaster" Target="/ppt/notesMasters/notesMaster1.xml" Id="Rf00810ba7db04e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7adc8d94a4d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bb8079892641d0" /><Relationship Type="http://schemas.openxmlformats.org/officeDocument/2006/relationships/slideLayout" Target="/ppt/slideLayouts/slideLayout1.xml" Id="R7df46214cf8f4c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f46214cf8f4c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9fa3ad6494905" /><Relationship Type="http://schemas.openxmlformats.org/officeDocument/2006/relationships/image" Target="/ppt/media/image.png" Id="Rfa7cd21d71ea48b1" /><Relationship Type="http://schemas.openxmlformats.org/officeDocument/2006/relationships/image" Target="/ppt/media/image2.png" Id="R0eb7df2659e6443d" /><Relationship Type="http://schemas.openxmlformats.org/officeDocument/2006/relationships/notesSlide" Target="/ppt/notesSlides/notesSlide1.xml" Id="R083134887b154c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ddaca6fe4474f" /><Relationship Type="http://schemas.openxmlformats.org/officeDocument/2006/relationships/notesSlide" Target="/ppt/notesSlides/notesSlide2.xml" Id="R1561d066d70342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4de8027df4746" /><Relationship Type="http://schemas.openxmlformats.org/officeDocument/2006/relationships/notesSlide" Target="/ppt/notesSlides/notesSlide3.xml" Id="Re6d0ea10581041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c8018928f4875" /><Relationship Type="http://schemas.openxmlformats.org/officeDocument/2006/relationships/notesSlide" Target="/ppt/notesSlides/notesSlide4.xml" Id="R69549624eb264d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987182b804524" /><Relationship Type="http://schemas.openxmlformats.org/officeDocument/2006/relationships/notesSlide" Target="/ppt/notesSlides/notesSlide5.xml" Id="Rb04adae232c64a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99b9f1b5f48c5" /><Relationship Type="http://schemas.openxmlformats.org/officeDocument/2006/relationships/notesSlide" Target="/ppt/notesSlides/notesSlide6.xml" Id="R4b6872742d6c4b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80c20f1144710" /><Relationship Type="http://schemas.openxmlformats.org/officeDocument/2006/relationships/notesSlide" Target="/ppt/notesSlides/notesSlide7.xml" Id="R059e482661054d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3da6efd2e45d5" /><Relationship Type="http://schemas.openxmlformats.org/officeDocument/2006/relationships/notesSlide" Target="/ppt/notesSlides/notesSlide8.xml" Id="Rd6e168679c8d4e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cb34180d4479d" /><Relationship Type="http://schemas.openxmlformats.org/officeDocument/2006/relationships/image" Target="/ppt/media/image3.png" Id="R2f21df76fbba4bfc" /><Relationship Type="http://schemas.openxmlformats.org/officeDocument/2006/relationships/image" Target="/ppt/media/image4.png" Id="R38f60eeb04bc4b1b" /><Relationship Type="http://schemas.openxmlformats.org/officeDocument/2006/relationships/notesSlide" Target="/ppt/notesSlides/notesSlide9.xml" Id="R350d81af583047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7c52fac8d4e29" /><Relationship Type="http://schemas.openxmlformats.org/officeDocument/2006/relationships/notesSlide" Target="/ppt/notesSlides/notesSlide10.xml" Id="R80f6c1bfa1064b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ad68b8db44117" /><Relationship Type="http://schemas.openxmlformats.org/officeDocument/2006/relationships/notesSlide" Target="/ppt/notesSlides/notesSlide11.xml" Id="R3aeeba9727d147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dafcfe1fa40e2" /><Relationship Type="http://schemas.openxmlformats.org/officeDocument/2006/relationships/image" Target="/ppt/media/image5.png" Id="R9779adcc55104d2a" /><Relationship Type="http://schemas.openxmlformats.org/officeDocument/2006/relationships/notesSlide" Target="/ppt/notesSlides/notesSlide12.xml" Id="Rb1e68120832641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38E4D-2F40-47BC-B2A7-EE50071E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solidFill>
              <a:srgbClr val="06101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F1A25-5A21-4D91-B4E5-60436935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CFF"/>
          </a:solidFill>
          <a:ln xmlns:a="http://schemas.openxmlformats.org/drawingml/2006/main" w="0">
            <a:solidFill>
              <a:srgbClr val="0A6C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cd21d71ea48b1"/>
          <a:stretch xmlns:a="http://schemas.openxmlformats.org/drawingml/2006/main"/>
        </p:blipFill>
        <p:spPr>
          <a:xfrm xmlns:a="http://schemas.openxmlformats.org/drawingml/2006/main">
            <a:off x="7677150" y="1857375"/>
            <a:ext cx="3143250" cy="1714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7df2659e6443d"/>
          <a:stretch xmlns:a="http://schemas.openxmlformats.org/drawingml/2006/main"/>
        </p:blipFill>
        <p:spPr>
          <a:xfrm xmlns:a="http://schemas.openxmlformats.org/drawingml/2006/main">
            <a:off x="8667750" y="37147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59023-D0C9-4B80-BE61-869F1694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Halolmia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32957-2DBA-40C5-9ECC-F720D799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381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EAF1FF"/>
                </a:solidFill>
              </a:defRPr>
            </a:pPr>
            <a:r>
              <a:rPr sz="2175" b="0">
                <a:solidFill>
                  <a:srgbClr val="EAF1FF"/>
                </a:solidFill>
              </a:rPr>
              <a:t>A trusted livestock marketplace with a halal earning engine built 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69997-B455-4916-99B8-CDCC542E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6192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A6CFF"/>
          </a:solidFill>
          <a:ln xmlns:a="http://schemas.openxmlformats.org/drawingml/2006/main" w="0">
            <a:solidFill>
              <a:srgbClr val="0A6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D0A67-F029-4DC9-B8EF-210B7508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Investor pitch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88FE5-4D32-45F5-9754-005E95FC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62300"/>
            <a:ext cx="1809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0F91B-B536-4156-B985-DFD216B0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385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Uzbekistan-first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5B528-6BEB-4CCD-B0E2-19A17073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Marketplace • Trust layer • Payments • Creator rewards • Savings • Farmer financing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CE96A-03A9-4BF3-B40D-0996B836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A80"/>
                </a:solidFill>
              </a:defRPr>
            </a:pPr>
            <a:r>
              <a:rPr sz="1050" b="1">
                <a:solidFill>
                  <a:srgbClr val="5D6A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08590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66BF7-CF1B-4CFF-8CDA-C8A2234E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CC3E0-5745-42DD-B606-ED5BC5A1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CFF"/>
          </a:solidFill>
          <a:ln xmlns:a="http://schemas.openxmlformats.org/drawingml/2006/main" w="0">
            <a:solidFill>
              <a:srgbClr val="0A6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91B61-4054-45B0-B529-8C4CFD19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</a:defRPr>
            </a:pPr>
            <a:r>
              <a:rPr sz="1200" b="1">
                <a:solidFill>
                  <a:srgbClr val="22C55E"/>
                </a:solidFill>
              </a:rPr>
              <a:t>HALOLMIA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08105-1C40-45A0-A08C-AC5ABEA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The old livestock market is too important to stay this messy.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CC227-66DB-44E7-8FC9-33632D8F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7"/>
                </a:solidFill>
              </a:defRPr>
            </a:pPr>
            <a:r>
              <a:rPr sz="1650" b="0">
                <a:solidFill>
                  <a:srgbClr val="A9B4C7"/>
                </a:solidFill>
              </a:rPr>
              <a:t>High-value animal trades still depend on scattered chats, weak trust, and manual follow-up.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107D9-6D4E-4B19-B3A6-705D80D2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219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52D4A-B88B-4058-8DA9-8AE9ECD9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Fragmented demand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C8308-825F-4210-B285-9FE1CC9F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Listings live across groups, calls, and informal networks.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26720-FC90-4F37-B972-0F999AD4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0400"/>
            <a:ext cx="3219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BD8E7-FE75-403C-91B1-7D062245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480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Trust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5F115-4DC8-4B5C-9254-8C7C50E4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195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Buyers need proof: seller identity, reviews, photos, location, and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6BE2C-E749-4D9E-AB33-51991A82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3219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87B00-9F81-4745-806C-1E97191A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480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No earning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43BAA-1D55-4A1D-95F9-760C5E34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People can trade animals, but cannot systematically earn from the marketplace they help grow.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E06E0-5061-40C3-8C61-22B1F321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A80"/>
                </a:solidFill>
              </a:defRPr>
            </a:pPr>
            <a:r>
              <a:rPr sz="1050" b="1">
                <a:solidFill>
                  <a:srgbClr val="5D6A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01250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A0D8A-3750-48A3-847C-BC756D50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DD67B-652B-49FC-A302-1F831698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CFF"/>
          </a:solidFill>
          <a:ln xmlns:a="http://schemas.openxmlformats.org/drawingml/2006/main" w="0">
            <a:solidFill>
              <a:srgbClr val="0A6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F1A48-48C9-4445-AEAA-C30F47EA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</a:defRPr>
            </a:pPr>
            <a:r>
              <a:rPr sz="1200" b="1">
                <a:solidFill>
                  <a:srgbClr val="22C55E"/>
                </a:solidFill>
              </a:rPr>
              <a:t>HALOLMIA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1E75C-C109-4DF1-9092-93860022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Halolmia is already more than a listings app.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855BF-F1ED-43B1-98C4-82706045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7"/>
                </a:solidFill>
              </a:defRPr>
            </a:pPr>
            <a:r>
              <a:rPr sz="1650" b="0">
                <a:solidFill>
                  <a:srgbClr val="A9B4C7"/>
                </a:solidFill>
              </a:rPr>
              <a:t>Mobile, admin, bot, and Convex backend work together as one commerce operating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76CBB-8DFE-48CF-BAAC-6D89E58D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0673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4C3EC-F247-420A-8B40-9074068D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Mobile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D044A-3278-4A9D-AC8A-2DE0F6B1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Browse, search, save, chat, call, sell, pay, promote, reels.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D3008-A55F-40D3-A1F0-AB075E88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50673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F2037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B37DF-2353-435E-8FC2-A5A80744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Admin panel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3D51C-C672-45D2-B261-22B3D76A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Moderation, users, feed control, dealers, ads, reels, reports, payments.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C23DD-111C-409A-A378-C9C3D311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0673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1D2EF-B798-49AD-9AF0-A8097B21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Telegram bot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CDCFF-85E6-4F03-AB5C-7BDDF0C6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Browse and sell from Telegram with phone verification.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EB9FE-F82B-4663-B4B3-353B1061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50673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F2037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C82DE-A93F-44C5-8494-92C502A9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00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C55E"/>
                </a:solidFill>
              </a:defRPr>
            </a:pPr>
            <a:r>
              <a:rPr sz="1950" b="1">
                <a:solidFill>
                  <a:srgbClr val="22C55E"/>
                </a:solidFill>
              </a:rPr>
              <a:t>Convex 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E84D6-A97D-4C40-A933-DA1DDE55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816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Realtime marketplace data, auth handshakes, payments, trust, bounty, savings.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09D94-0905-46CB-BF8E-798A57DA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A80"/>
                </a:solidFill>
              </a:defRPr>
            </a:pPr>
            <a:r>
              <a:rPr sz="1050" b="1">
                <a:solidFill>
                  <a:srgbClr val="5D6A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69250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A9EEC-72B6-4EC7-B778-59296F74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00431-548E-467E-9E8F-7A706FC6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CFF"/>
          </a:solidFill>
          <a:ln xmlns:a="http://schemas.openxmlformats.org/drawingml/2006/main" w="0">
            <a:solidFill>
              <a:srgbClr val="0A6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FB57E-E3AC-48EF-8F06-8186993B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</a:defRPr>
            </a:pPr>
            <a:r>
              <a:rPr sz="1200" b="1">
                <a:solidFill>
                  <a:srgbClr val="22C55E"/>
                </a:solidFill>
              </a:rPr>
              <a:t>HALOLMIA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FA21E-AC69-406E-9CBE-DB12EE08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Every transaction makes the network harder to copy.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5D91F-2AC6-49EC-9AF8-E90D2877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7"/>
                </a:solidFill>
              </a:defRPr>
            </a:pPr>
            <a:r>
              <a:rPr sz="1650" b="0">
                <a:solidFill>
                  <a:srgbClr val="A9B4C7"/>
                </a:solidFill>
              </a:rPr>
              <a:t>Each listing, message, review, verification, payment, and video strengthens the trust graph.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C458F-B0F7-409C-AE0F-9C930FE2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4800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A6CFF"/>
          </a:solidFill>
          <a:ln xmlns:a="http://schemas.openxmlformats.org/drawingml/2006/main" w="9525">
            <a:solidFill>
              <a:srgbClr val="0A6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14393-56DC-4C4B-9463-06E39FC8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3147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Verified deal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565D7-4058-43D7-AAC2-34568F0B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7147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EAFF"/>
                </a:solidFill>
              </a:defRPr>
            </a:pPr>
            <a:r>
              <a:rPr sz="1275" b="0">
                <a:solidFill>
                  <a:srgbClr val="DCEAFF"/>
                </a:solidFill>
              </a:rPr>
              <a:t>less fear, faster trade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330CC-065D-4230-B48C-1A5F7614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247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45017-2265-477B-845A-4BA5E71F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Seller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5D230-2E23-4BCD-98F5-B33B47D5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47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C4DBB-4035-4225-A27D-07E2BB8C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F6EB8-B98A-450D-80C6-DCF7C05E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43050"/>
            <a:ext cx="247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5C0FE-396E-4A3F-8FF9-E9CE0EE8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716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Photos &amp; video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4C41E-4B9A-46C2-B6FA-430604A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85950"/>
            <a:ext cx="247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7539C-1F94-4C07-853F-2611D7E7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833D8-83B9-46D3-8DD0-35573F12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19600"/>
            <a:ext cx="247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3C2C8-D55A-4B49-B45D-F08400F5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482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Chat &amp; calls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DA0A9-785A-4881-ACA2-BC5B7C7E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05400"/>
            <a:ext cx="247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A41B8-9959-47C2-8D50-EE9013AC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Admin moderation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C6678-84DA-4303-991D-40E6B611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A80"/>
                </a:solidFill>
              </a:defRPr>
            </a:pPr>
            <a:r>
              <a:rPr sz="1050" b="1">
                <a:solidFill>
                  <a:srgbClr val="5D6A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4076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3327B-CABA-4171-B558-5465774F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F508D-2B88-41BA-8EA4-218F20AC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CFF"/>
          </a:solidFill>
          <a:ln xmlns:a="http://schemas.openxmlformats.org/drawingml/2006/main" w="0">
            <a:solidFill>
              <a:srgbClr val="0A6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9536A-17DF-431F-8B45-FD08FC32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</a:defRPr>
            </a:pPr>
            <a:r>
              <a:rPr sz="1200" b="1">
                <a:solidFill>
                  <a:srgbClr val="22C55E"/>
                </a:solidFill>
              </a:rPr>
              <a:t>HALOLMIA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2AC54-919E-4465-9E9F-60232AEA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The breakthrough: users can earn from the marketplace they grow.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FA151-66AF-4A9E-83F2-5C698C9E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7"/>
                </a:solidFill>
              </a:defRPr>
            </a:pPr>
            <a:r>
              <a:rPr sz="1650" b="0">
                <a:solidFill>
                  <a:srgbClr val="A9B4C7"/>
                </a:solidFill>
              </a:rPr>
              <a:t>Halolmia Daromad gives people halal ways to make money by creating real value inside the ecosystem.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2B696-2288-45CE-86BE-0E66070C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A2A45"/>
          </a:solidFill>
          <a:ln xmlns:a="http://schemas.openxmlformats.org/drawingml/2006/main" w="9525">
            <a:solidFill>
              <a:srgbClr val="12A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978F8-3416-4324-BF44-C0AE74EF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A8E8"/>
                </a:solidFill>
              </a:defRPr>
            </a:pPr>
            <a:r>
              <a:rPr sz="2025" b="1">
                <a:solidFill>
                  <a:srgbClr val="12A8E8"/>
                </a:solidFill>
              </a:rPr>
              <a:t>Creator bounty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64DBA-BD07-45E3-ABB2-FDA4890D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32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Users earn from qualified content, installs, activations, and campaign performance.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D776C-24BF-436E-B672-7E57EA64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479AC-94E0-4EF6-BB3E-D8CBB65B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Dealer leads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6CEF2-4DB1-4EE2-8A62-12C14460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432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Creators and partners generate demand for official dealers and promoted sellers.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4D80E-115B-47D3-9E8D-A1D03F3C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53295-5674-4F84-AD20-38FA528E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Savings goals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D6CD2-DA2B-478E-9B16-29672828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2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Users save toward animals through wallet and card deposits.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CAD38-BDB6-4CB0-A518-AD93C11B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3AC3A-6A50-4111-8DA5-C017C657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Farmer financing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9B57A-A605-40F0-8D9C-91732EDD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57750"/>
            <a:ext cx="432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Verified sellers request capital for real livestock trade, then share upside after sale.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2C61F-EB0A-4CE1-A87D-014B556B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A80"/>
                </a:solidFill>
              </a:defRPr>
            </a:pPr>
            <a:r>
              <a:rPr sz="1050" b="1">
                <a:solidFill>
                  <a:srgbClr val="5D6A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00812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F7363-09DF-40A2-A954-24C85B30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C51FC-C1A0-4FB4-8E48-C927525E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CFF"/>
          </a:solidFill>
          <a:ln xmlns:a="http://schemas.openxmlformats.org/drawingml/2006/main" w="0">
            <a:solidFill>
              <a:srgbClr val="0A6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C6045-5E4B-4F76-B32F-4EEC6113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</a:defRPr>
            </a:pPr>
            <a:r>
              <a:rPr sz="1200" b="1">
                <a:solidFill>
                  <a:srgbClr val="22C55E"/>
                </a:solidFill>
              </a:rPr>
              <a:t>HALOLMIA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E00CF-0955-471B-9D6E-167698B2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We start with measurable rewards before regulated financial products.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64A4F-5016-4571-A7A1-A0562421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7"/>
                </a:solidFill>
              </a:defRPr>
            </a:pPr>
            <a:r>
              <a:rPr sz="1650" b="0">
                <a:solidFill>
                  <a:srgbClr val="A9B4C7"/>
                </a:solidFill>
              </a:rPr>
              <a:t>That lets Halolmia build trust, data, and compliance before scaling into financing.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7A84A-F82F-45AF-AB8E-28CCB2C5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241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285F0-570F-440D-9F77-7106D3BD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6CFF"/>
                </a:solidFill>
              </a:defRPr>
            </a:pPr>
            <a:r>
              <a:rPr sz="2850" b="1">
                <a:solidFill>
                  <a:srgbClr val="0A6C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0D3C0-E70B-4CFB-95BF-F1541F56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Creator rewards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64172-6F6F-47F2-8CCB-1D4A1340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</a:defRPr>
            </a:pPr>
            <a:r>
              <a:rPr sz="1200" b="0">
                <a:solidFill>
                  <a:srgbClr val="A9B4C7"/>
                </a:solidFill>
              </a:rPr>
              <a:t>Pay for measurable distribution.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7DA6F-CB81-40EE-B80B-D4E2176E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24200"/>
            <a:ext cx="23241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E0483-4875-48AE-B3F7-6BD7ED2B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528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6CFF"/>
                </a:solidFill>
              </a:defRPr>
            </a:pPr>
            <a:r>
              <a:rPr sz="2850" b="1">
                <a:solidFill>
                  <a:srgbClr val="0A6C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A2E0C-2FFB-4C77-800B-44A02A85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814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Lead marketplace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DBFAE-C7B6-4059-A1FA-C6303A0A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005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</a:defRPr>
            </a:pPr>
            <a:r>
              <a:rPr sz="1200" b="0">
                <a:solidFill>
                  <a:srgbClr val="A9B4C7"/>
                </a:solidFill>
              </a:rPr>
              <a:t>Reward verified buyer/seller referrals.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90BA7-FD1F-4D12-AD66-8DCF2283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23241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C54E4-61CF-4189-88A9-E1290C95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6CFF"/>
                </a:solidFill>
              </a:defRPr>
            </a:pPr>
            <a:r>
              <a:rPr sz="2850" b="1">
                <a:solidFill>
                  <a:srgbClr val="0A6C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F62CA-9B6A-4BBF-B199-ED9FE684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814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Savings plus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0C6F9-F56E-4967-AEFA-0B1A201A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005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</a:defRPr>
            </a:pPr>
            <a:r>
              <a:rPr sz="1200" b="0">
                <a:solidFill>
                  <a:srgbClr val="A9B4C7"/>
                </a:solidFill>
              </a:rPr>
              <a:t>Move goal-based savings into commerce flows.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7CA22-0041-4B16-89D4-EB6466A3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24200"/>
            <a:ext cx="23241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3326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396CC-69B1-4B48-B4D5-A67ACC17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528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C55E"/>
                </a:solidFill>
              </a:defRPr>
            </a:pPr>
            <a:r>
              <a:rPr sz="2850" b="1">
                <a:solidFill>
                  <a:srgbClr val="22C55E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595B8-527F-4E1E-8EAE-A994A232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814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Verified deal pools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09A43C-A74D-480B-BA77-5A3BC350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005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</a:defRPr>
            </a:pPr>
            <a:r>
              <a:rPr sz="1200" b="0">
                <a:solidFill>
                  <a:srgbClr val="A9B4C7"/>
                </a:solidFill>
              </a:rPr>
              <a:t>Finance real sellers with admin and sharia 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31FB7-7DED-40A9-9395-AC775257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A80"/>
                </a:solidFill>
              </a:defRPr>
            </a:pPr>
            <a:r>
              <a:rPr sz="1050" b="1">
                <a:solidFill>
                  <a:srgbClr val="5D6A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132411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F8817-12F4-4A1C-BC3D-D3F54318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578AE-39AD-46B3-B391-2E71C4CB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CFF"/>
          </a:solidFill>
          <a:ln xmlns:a="http://schemas.openxmlformats.org/drawingml/2006/main" w="0">
            <a:solidFill>
              <a:srgbClr val="0A6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36A35-2CF1-410C-9382-D59E602C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</a:defRPr>
            </a:pPr>
            <a:r>
              <a:rPr sz="1200" b="1">
                <a:solidFill>
                  <a:srgbClr val="22C55E"/>
                </a:solidFill>
              </a:rPr>
              <a:t>HALOLMIA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AFFCE-4FA3-4542-B376-BEAAC7CF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Revenue stacks across commerce, distribution, and capital.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E2035-65D4-49EA-A9E3-C3E2EA21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7"/>
                </a:solidFill>
              </a:defRPr>
            </a:pPr>
            <a:r>
              <a:rPr sz="1650" b="0">
                <a:solidFill>
                  <a:srgbClr val="A9B4C7"/>
                </a:solidFill>
              </a:rPr>
              <a:t>The model begins with marketplace revenue and expands into performance and financing products.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9A4CF-E0B0-4D28-AA78-7927AF5F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Promoted listings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96A24-9E2F-4D31-A884-F47C83B1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Alo / Zo'r / VIP / Lux feed boosts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48BFD-497A-485A-A58F-5F3AFC8F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A2CB0-11FC-4BB1-B7C5-DB94C6A8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Dealer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FCD31-3778-4892-883E-8111397A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385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Showcase videos, profiles, lead packages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CA2FC-CE74-4D35-AED8-438EA9FB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AE6E3-B859-4CD7-BED3-679DC676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53E11-37F4-4027-AE1F-22AC124C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6717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Wallet top-ups, savings, promotion checkout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A579B-BF19-44ED-925B-7E97218B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CD535-C09E-4514-94F2-604BA55B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</a:rPr>
              <a:t>Performance fees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F4720-1629-4366-8C92-BAE0E762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958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Take-rate on verified financing outcomes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AD5B4-1788-41A8-973C-D5D73468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B37C1-EDCF-428D-8102-26C464A9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</a:rPr>
              <a:t>Ads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4CA6D8-815D-4763-9E33-5E5B4D94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2447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Sponsored marketplace placements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D30E2-DD37-4AA7-AD5C-1362B00E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A4789-865C-438D-BEAA-8C7097BD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A80"/>
                </a:solidFill>
              </a:defRPr>
            </a:pPr>
            <a:r>
              <a:rPr sz="1050" b="1">
                <a:solidFill>
                  <a:srgbClr val="5D6A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53986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95F10-CB1E-4C54-AFE2-ED3F62C7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12EC9-5A62-4CE7-A65D-5B6AC39F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CFF"/>
          </a:solidFill>
          <a:ln xmlns:a="http://schemas.openxmlformats.org/drawingml/2006/main" w="0">
            <a:solidFill>
              <a:srgbClr val="0A6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B2622-DF8E-4079-B50D-5F3A1185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</a:defRPr>
            </a:pPr>
            <a:r>
              <a:rPr sz="1200" b="1">
                <a:solidFill>
                  <a:srgbClr val="22C55E"/>
                </a:solidFill>
              </a:rPr>
              <a:t>HALOLMIA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0074C-3736-416A-AF97-263E1469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The moat is the full loop: trust, supply, demand, and money.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32E7D-B8B6-4749-8EC2-B08B696B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7"/>
                </a:solidFill>
              </a:defRPr>
            </a:pPr>
            <a:r>
              <a:rPr sz="1650" b="0">
                <a:solidFill>
                  <a:srgbClr val="A9B4C7"/>
                </a:solidFill>
              </a:rPr>
              <a:t>Most marketplaces stop at listings. Halolmia connects the entire livestock commerce 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C3FB9-6052-4FC5-B1AF-627FC55E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0D07D-965F-45D8-8CEB-3AD019C3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verified sellers, reviews, moderation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53339-412A-475D-B039-04F9746C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Supply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79B82-C539-4DA3-B291-A4C29081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338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farmers, dealers, and animal owners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87FAC-8E2E-4927-9E07-2B141B8C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991F2-3962-4AE2-998F-B32810F7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buyers from app and Telegram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EB2E5-5C3E-4797-92F5-9CA3F712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813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Money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6D5D4-9929-4F69-B1D0-DF27F71E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338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savings, rewards, payments, financing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84746-8B50-447D-AA46-D1D57273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197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AF1FF"/>
                </a:solidFill>
              </a:defRPr>
            </a:pPr>
            <a:r>
              <a:rPr sz="1725" b="0">
                <a:solidFill>
                  <a:srgbClr val="EAF1FF"/>
                </a:solidFill>
              </a:rPr>
              <a:t>The defensibility is not one feature. It is the network data created when listings, identity, video, messages, payments, and rewards happen in one place.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38D90-601C-4E37-8C97-15108F22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A80"/>
                </a:solidFill>
              </a:defRPr>
            </a:pPr>
            <a:r>
              <a:rPr sz="1050" b="1">
                <a:solidFill>
                  <a:srgbClr val="5D6A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13680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F4939-D062-4141-B588-A2D8FB48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24540-07FE-4B89-AAE9-BEA160DC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CFF"/>
          </a:solidFill>
          <a:ln xmlns:a="http://schemas.openxmlformats.org/drawingml/2006/main" w="0">
            <a:solidFill>
              <a:srgbClr val="0A6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2C0AF-E556-40EA-990A-A756332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</a:defRPr>
            </a:pPr>
            <a:r>
              <a:rPr sz="1200" b="1">
                <a:solidFill>
                  <a:srgbClr val="22C55E"/>
                </a:solidFill>
              </a:rPr>
              <a:t>HALOLMIA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B3C9F-5ACB-4A87-B305-BFDA4AE8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Growth is built into the product, not bolted on later.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4B1D7-0356-4796-BB06-51B7B135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7"/>
                </a:solidFill>
              </a:defRPr>
            </a:pPr>
            <a:r>
              <a:rPr sz="1650" b="0">
                <a:solidFill>
                  <a:srgbClr val="A9B4C7"/>
                </a:solidFill>
              </a:rPr>
              <a:t>Creators and sellers are not only users; they become paid distribution partners.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1df76fbba4bfc"/>
          <a:srcRect xmlns:a="http://schemas.openxmlformats.org/drawingml/2006/main" l="0" t="3029" r="0" b="30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1900" y="1790700"/>
            <a:ext cx="3238500" cy="2038350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60eeb04bc4b1b"/>
          <a:srcRect xmlns:a="http://schemas.openxmlformats.org/drawingml/2006/main" l="0" t="4076" r="0" b="40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400050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F4B40-651B-42C2-9019-092F0F2B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Acquire sellers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C99AE-9C11-4BDB-920E-A7D82FF8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527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creator bounty, Telegram bot, dealer onboarding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67DB7-30A8-4A2D-8F5C-E6FD38F6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Activate buyers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E88FB-9F1F-48EA-8B3E-76773E4A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385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search, reels, trust badges, chat and calls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99FCE-9BAF-4DB8-90C9-BDC15C5C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Monetize sellers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BD53C-9263-46D0-8DD9-DA06FC6F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243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promotions, dealer packages, lead products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E8BE0-6020-42B5-8113-D04C6DCA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</a:rPr>
              <a:t>Expand earning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4B621-5D8A-4848-B970-E296D37E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0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bounty to referrals to verified deal financing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25E2E-F983-4DDD-9D7A-C401ADA5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A80"/>
                </a:solidFill>
              </a:defRPr>
            </a:pPr>
            <a:r>
              <a:rPr sz="1050" b="1">
                <a:solidFill>
                  <a:srgbClr val="5D6A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78454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5051E-52F8-475D-A732-C70AA502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6D3C0-61A8-4534-9481-15013AAD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CFF"/>
          </a:solidFill>
          <a:ln xmlns:a="http://schemas.openxmlformats.org/drawingml/2006/main" w="0">
            <a:solidFill>
              <a:srgbClr val="0A6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F4D7D-BE05-410F-8755-D00D9CCD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</a:defRPr>
            </a:pPr>
            <a:r>
              <a:rPr sz="1200" b="1">
                <a:solidFill>
                  <a:srgbClr val="22C55E"/>
                </a:solidFill>
              </a:rPr>
              <a:t>HALOLMIA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110CB-96F0-488D-9C53-1ABFF480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The roadmap turns trust into a financial platform.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EC3BC-B34A-4D11-80A1-922B5015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7"/>
                </a:solidFill>
              </a:defRPr>
            </a:pPr>
            <a:r>
              <a:rPr sz="1650" b="0">
                <a:solidFill>
                  <a:srgbClr val="A9B4C7"/>
                </a:solidFill>
              </a:rPr>
              <a:t>Every phase adds revenue without breaking user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D6C29-8FB1-450E-BAE6-4EFE0DCA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CCE19-864F-4FF1-B91E-CA2CE28F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6CFF"/>
                </a:solidFill>
              </a:defRPr>
            </a:pPr>
            <a:r>
              <a:rPr sz="1875" b="1">
                <a:solidFill>
                  <a:srgbClr val="0A6CFF"/>
                </a:solidFill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A486F-5AF9-49EB-9A34-CBC5C118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7190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Marketplace, admin, bot, reels, savings, bounty primitives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C014E-681E-4225-9491-9EB1131A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9900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9DBFC-AC78-4B57-AC5F-B9BAC29E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76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6CFF"/>
                </a:solidFill>
              </a:defRPr>
            </a:pPr>
            <a:r>
              <a:rPr sz="1875" b="1">
                <a:solidFill>
                  <a:srgbClr val="0A6CFF"/>
                </a:solidFill>
              </a:rPr>
              <a:t>Next 90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7A33F-96AE-4526-9DBF-57D2E71E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7190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Creator dashboard, referral tracking, dealer lead packages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E25CE-96CD-4EF5-9131-94F5DB70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82301-E648-4FE0-9DFA-A5129DAB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6CFF"/>
                </a:solidFill>
              </a:defRPr>
            </a:pPr>
            <a:r>
              <a:rPr sz="1875" b="1">
                <a:solidFill>
                  <a:srgbClr val="0A6CFF"/>
                </a:solidFill>
              </a:rPr>
              <a:t>6 months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2D28A-A81F-4183-9CC1-F1AE67D9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7190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Verified seller financing requests and manual deal 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EAF02-7E14-4CC6-802A-9B92EBF2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09900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1C5A6-5D29-4A51-97D9-06FE7513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76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C55E"/>
                </a:solidFill>
              </a:defRPr>
            </a:pPr>
            <a:r>
              <a:rPr sz="1875" b="1">
                <a:solidFill>
                  <a:srgbClr val="22C55E"/>
                </a:solidFill>
              </a:rPr>
              <a:t>12 months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C8F20-1E8A-40F5-A9F9-F5A7A885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7190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Audited halal deal pools with transparent risk and payout reporting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E6504-75A1-455D-A61A-82A4C2F0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A80"/>
                </a:solidFill>
              </a:defRPr>
            </a:pPr>
            <a:r>
              <a:rPr sz="1050" b="1">
                <a:solidFill>
                  <a:srgbClr val="5D6A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0430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ABC67-CB6F-446F-9506-872E5F2D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69E6E-8C34-46C7-9739-3B9FDC6C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CFF"/>
          </a:solidFill>
          <a:ln xmlns:a="http://schemas.openxmlformats.org/drawingml/2006/main" w="0">
            <a:solidFill>
              <a:srgbClr val="0A6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24326-F41D-452E-B050-70B23FEC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</a:defRPr>
            </a:pPr>
            <a:r>
              <a:rPr sz="1200" b="1">
                <a:solidFill>
                  <a:srgbClr val="22C55E"/>
                </a:solidFill>
              </a:rPr>
              <a:t>HALOLMIA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B1AC7-10D4-4819-A0A0-A331380C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The raise accelerates the trust moat and earning engine.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FB288-9167-4BF6-B645-AC5F83A6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7"/>
                </a:solidFill>
              </a:defRPr>
            </a:pPr>
            <a:r>
              <a:rPr sz="1650" b="0">
                <a:solidFill>
                  <a:srgbClr val="A9B4C7"/>
                </a:solidFill>
              </a:rPr>
              <a:t>Capital goes into product, supply onboarding, compliance, and measurable distribution.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8A61C-345A-4983-B5F8-05BBD687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4191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C2602-4924-4C4C-B574-CEAF922E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289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D5FE7-055C-4A5A-ACDD-B8455DF1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480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</a:defRPr>
            </a:pPr>
            <a:r>
              <a:rPr sz="1200" b="0">
                <a:solidFill>
                  <a:srgbClr val="A9B4C7"/>
                </a:solidFill>
              </a:rPr>
              <a:t>creator/referral dashboards, wallet polish, deal ops workflows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93572-4C2D-492C-9202-AB65E2B5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4191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A8958-90AC-4294-9D37-939DCA79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289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Supply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B6790-F9C1-4D1E-9E9C-FE5EE660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480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</a:defRPr>
            </a:pPr>
            <a:r>
              <a:rPr sz="1200" b="0">
                <a:solidFill>
                  <a:srgbClr val="A9B4C7"/>
                </a:solidFill>
              </a:rPr>
              <a:t>farmer and dealer onboarding across priority regions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3E942-E9A8-4D58-AE84-E64A84DF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191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9E813-560D-4F91-8C54-5BDEA681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672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C55E"/>
                </a:solidFill>
              </a:defRPr>
            </a:pPr>
            <a:r>
              <a:rPr sz="1875" b="1">
                <a:solidFill>
                  <a:srgbClr val="22C55E"/>
                </a:solidFill>
              </a:rPr>
              <a:t>Trust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A9A55-B60C-428C-9585-8C030014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862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</a:defRPr>
            </a:pPr>
            <a:r>
              <a:rPr sz="1200" b="0">
                <a:solidFill>
                  <a:srgbClr val="A9B4C7"/>
                </a:solidFill>
              </a:rPr>
              <a:t>verification, moderation tooling, legal and sharia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3C768-7835-4553-BD5F-FDC61312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4191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4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E4DB7-C3E6-4CF4-B5AE-7181FC2D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672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Growth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C8882-E372-4B8C-AA5E-F810162C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862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7"/>
                </a:solidFill>
              </a:defRPr>
            </a:pPr>
            <a:r>
              <a:rPr sz="1200" b="0">
                <a:solidFill>
                  <a:srgbClr val="A9B4C7"/>
                </a:solidFill>
              </a:rPr>
              <a:t>performance campaigns tied to installs, listings, and transactions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6130B-790A-457E-B46F-117096DE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A80"/>
                </a:solidFill>
              </a:defRPr>
            </a:pPr>
            <a:r>
              <a:rPr sz="1050" b="1">
                <a:solidFill>
                  <a:srgbClr val="5D6A8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353030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233C0-CAC2-4D5F-A859-7EB5A1A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  <a:ln xmlns:a="http://schemas.openxmlformats.org/drawingml/2006/main" w="0">
            <a:solidFill>
              <a:srgbClr val="050B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8A39C-15A7-404F-82FB-8A173088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CFF"/>
          </a:solidFill>
          <a:ln xmlns:a="http://schemas.openxmlformats.org/drawingml/2006/main" w="0">
            <a:solidFill>
              <a:srgbClr val="0A6CF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9adcc55104d2a"/>
          <a:stretch xmlns:a="http://schemas.openxmlformats.org/drawingml/2006/main"/>
        </p:blipFill>
        <p:spPr>
          <a:xfrm xmlns:a="http://schemas.openxmlformats.org/drawingml/2006/main">
            <a:off x="8667750" y="106680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A08EC-E89E-4244-BA03-DA023594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Halolmia can become the money layer for trusted livestock commerce.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FAEB1-592D-4EC5-A0D1-ABA1758E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F"/>
                </a:solidFill>
              </a:defRPr>
            </a:pPr>
            <a:r>
              <a:rPr sz="1875" b="0">
                <a:solidFill>
                  <a:srgbClr val="EAF1FF"/>
                </a:solidFill>
              </a:rPr>
              <a:t>The ask: partner with us to scale from marketplace traction into the halal earning engine for farmers, dealers, creators, buyers, and everyday savers.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62E7C-317A-4F0D-A65E-0D0685AC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1809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A6CFF"/>
          </a:solidFill>
          <a:ln xmlns:a="http://schemas.openxmlformats.org/drawingml/2006/main" w="0">
            <a:solidFill>
              <a:srgbClr val="0A6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F733A-7261-45D2-A20F-E099401C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Marketplace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CA027-06C1-452B-BBF9-7844D145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91050"/>
            <a:ext cx="2095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73D15-6D44-44CD-BB72-B7B3802A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672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Earning engine 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52397-3829-4089-8D7C-B7FE19ED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4C7"/>
                </a:solidFill>
              </a:defRPr>
            </a:pPr>
            <a:r>
              <a:rPr sz="1275" b="0">
                <a:solidFill>
                  <a:srgbClr val="A9B4C7"/>
                </a:solidFill>
              </a:rPr>
              <a:t>Halolmia • Investor pitch •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8A6E4-B643-4EF9-A922-59FB7DD7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A80"/>
                </a:solidFill>
              </a:defRPr>
            </a:pPr>
            <a:r>
              <a:rPr sz="1050" b="1">
                <a:solidFill>
                  <a:srgbClr val="5D6A8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29537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2026-07-21T21:28:48.7400000Z</dcterms:created>
  <dcterms:modified xsi:type="dcterms:W3CDTF">2026-07-21T21:28:48.7400000Z</dcterms:modified>
</coreProperties>
</file>